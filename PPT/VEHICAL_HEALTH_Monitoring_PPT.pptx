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9" r:id="rId10"/>
    <p:sldId id="273" r:id="rId11"/>
    <p:sldId id="263" r:id="rId12"/>
    <p:sldId id="272" r:id="rId13"/>
    <p:sldId id="265" r:id="rId14"/>
    <p:sldId id="274" r:id="rId15"/>
    <p:sldId id="275" r:id="rId16"/>
    <p:sldId id="276" r:id="rId17"/>
    <p:sldId id="266" r:id="rId18"/>
    <p:sldId id="267" r:id="rId19"/>
    <p:sldId id="268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92" autoAdjust="0"/>
  </p:normalViewPr>
  <p:slideViewPr>
    <p:cSldViewPr>
      <p:cViewPr varScale="1">
        <p:scale>
          <a:sx n="69" d="100"/>
          <a:sy n="69" d="100"/>
        </p:scale>
        <p:origin x="85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5A1E1-FF75-490A-BA2F-69E925DD063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40A00-A3D1-4C30-8FC3-0D327234E4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97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problem is the </a:t>
            </a:r>
            <a:r>
              <a:rPr lang="en-US" b="1" dirty="0"/>
              <a:t>lack of real-time monitoring</a:t>
            </a:r>
            <a:r>
              <a:rPr lang="en-US" dirty="0"/>
              <a:t> of engine parameters such as temperature, oil level, and vibration. Because of this, faults are detected late.</a:t>
            </a:r>
          </a:p>
          <a:p>
            <a:r>
              <a:rPr lang="en-US" dirty="0"/>
              <a:t>Second, </a:t>
            </a:r>
            <a:r>
              <a:rPr lang="en-US" b="1" dirty="0"/>
              <a:t>delayed fault detection</a:t>
            </a:r>
            <a:r>
              <a:rPr lang="en-US" dirty="0"/>
              <a:t> increases maintenance cost and may cause serious engine damage.</a:t>
            </a:r>
          </a:p>
          <a:p>
            <a:r>
              <a:rPr lang="en-US" dirty="0"/>
              <a:t>Third, there is </a:t>
            </a:r>
            <a:r>
              <a:rPr lang="en-US" b="1" dirty="0"/>
              <a:t>no effective driver alert mechanism</a:t>
            </a:r>
            <a:r>
              <a:rPr lang="en-US" dirty="0"/>
              <a:t> in many systems to detect unsafe behavior like removing hands from the steering wheel.</a:t>
            </a:r>
          </a:p>
          <a:p>
            <a:r>
              <a:rPr lang="en-US" dirty="0"/>
              <a:t>Fourth, many low-cost systems do not use </a:t>
            </a:r>
            <a:r>
              <a:rPr lang="en-US" b="1" dirty="0"/>
              <a:t>reliable automotive protocols like CAN</a:t>
            </a:r>
            <a:r>
              <a:rPr lang="en-US" dirty="0"/>
              <a:t>, leading to communication failures.</a:t>
            </a:r>
          </a:p>
          <a:p>
            <a:r>
              <a:rPr lang="en-US" dirty="0"/>
              <a:t>Finally, there is </a:t>
            </a:r>
            <a:r>
              <a:rPr lang="en-US" b="1" dirty="0"/>
              <a:t>no integrated cloud-based monitoring and alert system</a:t>
            </a:r>
            <a:r>
              <a:rPr lang="en-US" dirty="0"/>
              <a:t>, so remote supervision is not possible.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40A00-A3D1-4C30-8FC3-0D327234E41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57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5350" y="199124"/>
            <a:ext cx="1650924" cy="6628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5350" y="199124"/>
            <a:ext cx="1650924" cy="6628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045710"/>
          </a:xfrm>
          <a:custGeom>
            <a:avLst/>
            <a:gdLst/>
            <a:ahLst/>
            <a:cxnLst/>
            <a:rect l="l" t="t" r="r" b="b"/>
            <a:pathLst>
              <a:path w="9144000" h="5045710">
                <a:moveTo>
                  <a:pt x="0" y="5045699"/>
                </a:moveTo>
                <a:lnTo>
                  <a:pt x="9143999" y="5045699"/>
                </a:lnTo>
                <a:lnTo>
                  <a:pt x="9143999" y="0"/>
                </a:lnTo>
                <a:lnTo>
                  <a:pt x="0" y="0"/>
                </a:lnTo>
                <a:lnTo>
                  <a:pt x="0" y="50456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5350" y="199124"/>
            <a:ext cx="1650924" cy="6628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300" y="312158"/>
            <a:ext cx="692599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35481"/>
            <a:ext cx="8343265" cy="275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300" y="312158"/>
            <a:ext cx="71241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5080" indent="22860">
              <a:lnSpc>
                <a:spcPct val="100000"/>
              </a:lnSpc>
              <a:spcBef>
                <a:spcPts val="100"/>
              </a:spcBef>
            </a:pPr>
            <a:r>
              <a:rPr lang="en-US" sz="2400" b="1" u="none" dirty="0">
                <a:latin typeface="Times New Roman"/>
                <a:cs typeface="Times New Roman"/>
              </a:rPr>
              <a:t>IoT Based Vehicle Health Monitoring and Driver           			Alert System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53000" y="2571750"/>
            <a:ext cx="1127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Submitted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By:</a:t>
            </a:r>
            <a:endParaRPr sz="14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732748"/>
              </p:ext>
            </p:extLst>
          </p:nvPr>
        </p:nvGraphicFramePr>
        <p:xfrm>
          <a:off x="3755425" y="2992938"/>
          <a:ext cx="3983354" cy="185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435">
                <a:tc>
                  <a:txBody>
                    <a:bodyPr/>
                    <a:lstStyle/>
                    <a:p>
                      <a:pPr marL="31750">
                        <a:lnSpc>
                          <a:spcPts val="1530"/>
                        </a:lnSpc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Abhijeet Singh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153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[250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840130001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IN" sz="1400" spc="-20" dirty="0">
                          <a:latin typeface="Times New Roman"/>
                          <a:cs typeface="Times New Roman"/>
                        </a:rPr>
                        <a:t>jay Vyas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[250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840130003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IN" sz="1400" dirty="0" err="1">
                          <a:latin typeface="Times New Roman"/>
                          <a:cs typeface="Times New Roman"/>
                        </a:rPr>
                        <a:t>ratik</a:t>
                      </a: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 Datir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250840130013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Nikita </a:t>
                      </a:r>
                      <a:r>
                        <a:rPr lang="en-IN" sz="1400" dirty="0" err="1">
                          <a:latin typeface="Times New Roman"/>
                          <a:cs typeface="Times New Roman"/>
                        </a:rPr>
                        <a:t>Pawage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250840130037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marL="31750">
                        <a:lnSpc>
                          <a:spcPts val="1605"/>
                        </a:lnSpc>
                        <a:spcBef>
                          <a:spcPts val="70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lang="en-IN" sz="1400" dirty="0" err="1">
                          <a:latin typeface="Times New Roman"/>
                          <a:cs typeface="Times New Roman"/>
                        </a:rPr>
                        <a:t>ubodh</a:t>
                      </a:r>
                      <a:r>
                        <a:rPr lang="en-IN"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400" dirty="0" err="1">
                          <a:latin typeface="Times New Roman"/>
                          <a:cs typeface="Times New Roman"/>
                        </a:rPr>
                        <a:t>Hurgat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05"/>
                        </a:lnSpc>
                        <a:spcBef>
                          <a:spcPts val="70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lang="en-IN" sz="1400" spc="-10" dirty="0">
                          <a:latin typeface="Times New Roman"/>
                          <a:cs typeface="Times New Roman"/>
                        </a:rPr>
                        <a:t>250840130050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82934" y="1504950"/>
            <a:ext cx="487026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8639" marR="5080" indent="-1806575">
              <a:lnSpc>
                <a:spcPct val="100000"/>
              </a:lnSpc>
              <a:spcBef>
                <a:spcPts val="100"/>
              </a:spcBef>
            </a:pPr>
            <a:r>
              <a:rPr sz="1900" b="1" spc="-20" dirty="0">
                <a:latin typeface="Times New Roman"/>
                <a:cs typeface="Times New Roman"/>
              </a:rPr>
              <a:t>PG-</a:t>
            </a:r>
            <a:r>
              <a:rPr sz="1900" b="1" dirty="0">
                <a:latin typeface="Times New Roman"/>
                <a:cs typeface="Times New Roman"/>
              </a:rPr>
              <a:t>Diploma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in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Embedded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Systems</a:t>
            </a:r>
            <a:r>
              <a:rPr sz="1900" b="1" spc="-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5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Design (PG-DESD)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50" y="3736883"/>
            <a:ext cx="1373505" cy="6718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400" b="1" dirty="0">
                <a:latin typeface="Times New Roman"/>
                <a:cs typeface="Times New Roman"/>
              </a:rPr>
              <a:t>Guided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By: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400" spc="-10" dirty="0">
                <a:latin typeface="Times New Roman"/>
                <a:cs typeface="Times New Roman"/>
              </a:rPr>
              <a:t>Mr.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Rhugved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Rane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0"/>
            <a:ext cx="6925990" cy="756919"/>
          </a:xfrm>
          <a:prstGeom prst="rect">
            <a:avLst/>
          </a:prstGeom>
        </p:spPr>
        <p:txBody>
          <a:bodyPr vert="horz" wrap="square" lIns="0" tIns="20487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6662" y="971550"/>
            <a:ext cx="8530675" cy="37074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Modern vehicles require continuous monitoring of engine performance and driver behavior to improve safety and reduce mechanical failures. This project presents an </a:t>
            </a:r>
            <a:r>
              <a:rPr lang="en-US" b="1" dirty="0"/>
              <a:t>IoT-based Vehicle Health and Driver Alert System</a:t>
            </a:r>
            <a:r>
              <a:rPr lang="en-US" dirty="0"/>
              <a:t> that monitors critical engine conditions and driver hand presence in real time. The system processes data locally, communicates reliably using an automotive-grade network, and transmits information to the cloud for remote monitoring. An event-based alert mechanism generates </a:t>
            </a:r>
            <a:r>
              <a:rPr lang="en-US" b="1" dirty="0"/>
              <a:t>real-time email notifications</a:t>
            </a:r>
            <a:r>
              <a:rPr lang="en-US" dirty="0"/>
              <a:t> when predefined safety thresholds are exceeded. The proposed solution follows a </a:t>
            </a:r>
            <a:r>
              <a:rPr lang="en-US" b="1" dirty="0"/>
              <a:t>scalable, reliable, and automotive-style architecture</a:t>
            </a:r>
            <a:r>
              <a:rPr lang="en-US" dirty="0"/>
              <a:t> suitable for real-world vehicle safety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7150"/>
            <a:ext cx="6925990" cy="756919"/>
          </a:xfrm>
          <a:prstGeom prst="rect">
            <a:avLst/>
          </a:prstGeom>
        </p:spPr>
        <p:txBody>
          <a:bodyPr vert="horz" wrap="square" lIns="0" tIns="29882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Problem</a:t>
            </a:r>
            <a:r>
              <a:rPr spc="16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1B018-FDBE-6E37-E7A2-87DCE0D08B06}"/>
              </a:ext>
            </a:extLst>
          </p:cNvPr>
          <p:cNvSpPr txBox="1"/>
          <p:nvPr/>
        </p:nvSpPr>
        <p:spPr>
          <a:xfrm>
            <a:off x="228600" y="1123950"/>
            <a:ext cx="815340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Lack of real-time monitoring of engine performance parameters such as temperature, Engine oil level, and vibration.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Delayed detection of engine faults leading to increased maintenance cost and safety risks.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Absence of effective driver alert systems to detect unsafe driving behavior.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Limited use of reliable automotive communication protocols in existing low-cost systems.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 integrated cloud-based monitoring and alert mechanism for remote supervision.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33350"/>
            <a:ext cx="6925990" cy="648000"/>
          </a:xfrm>
          <a:prstGeom prst="rect">
            <a:avLst/>
          </a:prstGeom>
        </p:spPr>
        <p:txBody>
          <a:bodyPr vert="horz" wrap="square" lIns="0" tIns="20487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047750"/>
            <a:ext cx="8287751" cy="37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000" indent="-366395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US" dirty="0"/>
              <a:t>To design a real-time system for monitoring engine performance parameters such as temperature, Engine oil level, and vibration.</a:t>
            </a:r>
          </a:p>
          <a:p>
            <a:pPr marL="450000" indent="-366395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US" dirty="0"/>
              <a:t>To implement a driver alert mechanism using touch sensors to detect unsafe driving behavior.</a:t>
            </a:r>
          </a:p>
          <a:p>
            <a:pPr marL="450000" indent="-366395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US" dirty="0"/>
              <a:t>To use the CAN protocol for reliable and automotive-grade data communication and </a:t>
            </a:r>
            <a:r>
              <a:rPr lang="en-IN" dirty="0"/>
              <a:t>display system data on TFT display.</a:t>
            </a:r>
            <a:endParaRPr lang="en-US" dirty="0"/>
          </a:p>
          <a:p>
            <a:pPr marL="450000" indent="-366395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US" dirty="0"/>
              <a:t>To integrate IoT functionality for remote monitoring using cloud services.</a:t>
            </a:r>
          </a:p>
          <a:p>
            <a:pPr marL="450000" indent="-366395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US" dirty="0"/>
              <a:t>To generate real-time alerts and notifications during abnormal or unsafe conditions.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875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275" dirty="0"/>
              <a:t> </a:t>
            </a:r>
            <a:r>
              <a:rPr spc="85" dirty="0"/>
              <a:t>Used</a:t>
            </a:r>
            <a:r>
              <a:rPr spc="275" dirty="0"/>
              <a:t> </a:t>
            </a:r>
            <a:r>
              <a:rPr spc="105" dirty="0"/>
              <a:t>(Hardware)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621" y="1889772"/>
            <a:ext cx="2930525" cy="2798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lang="en-IN" sz="1600" spc="-10" dirty="0">
                <a:latin typeface="Times New Roman"/>
                <a:cs typeface="Times New Roman"/>
              </a:rPr>
              <a:t>STM32F407VGT6</a:t>
            </a: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63855" algn="l"/>
              </a:tabLst>
            </a:pPr>
            <a:endParaRPr lang="en-IN" sz="1600" spc="-10" dirty="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sz="1600" spc="-10" dirty="0">
                <a:latin typeface="Times New Roman"/>
                <a:cs typeface="Times New Roman"/>
              </a:rPr>
              <a:t>ESP32-</a:t>
            </a:r>
            <a:r>
              <a:rPr sz="1600" spc="-20" dirty="0">
                <a:latin typeface="Times New Roman"/>
                <a:cs typeface="Times New Roman"/>
              </a:rPr>
              <a:t>WROOM</a:t>
            </a:r>
            <a:endParaRPr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endParaRPr sz="1600" dirty="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sz="1600" dirty="0">
                <a:latin typeface="Times New Roman"/>
                <a:cs typeface="Times New Roman"/>
              </a:rPr>
              <a:t>MCP25</a:t>
            </a:r>
            <a:r>
              <a:rPr lang="en-IN" sz="1600" dirty="0">
                <a:latin typeface="Times New Roman"/>
                <a:cs typeface="Times New Roman"/>
              </a:rPr>
              <a:t>51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Module</a:t>
            </a:r>
            <a:endParaRPr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endParaRPr sz="1600" dirty="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lang="en-IN" sz="1600" spc="-40" dirty="0">
                <a:latin typeface="Times New Roman"/>
                <a:cs typeface="Times New Roman"/>
              </a:rPr>
              <a:t>LM35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Temperature</a:t>
            </a:r>
            <a:r>
              <a:rPr sz="1600" spc="-10" dirty="0">
                <a:latin typeface="Times New Roman"/>
                <a:cs typeface="Times New Roman"/>
              </a:rPr>
              <a:t> Sensor</a:t>
            </a:r>
            <a:endParaRPr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endParaRPr sz="1600" dirty="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lang="en-IN" sz="1600" spc="-50" dirty="0">
                <a:latin typeface="Times New Roman"/>
                <a:cs typeface="Times New Roman"/>
              </a:rPr>
              <a:t>HC-SR04 Ultra Sonic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Senso</a:t>
            </a:r>
            <a:r>
              <a:rPr lang="en-IN" sz="1600" spc="-10" dirty="0">
                <a:latin typeface="Times New Roman"/>
                <a:cs typeface="Times New Roman"/>
              </a:rPr>
              <a:t>r</a:t>
            </a:r>
            <a:endParaRPr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endParaRPr sz="1600" dirty="0">
              <a:latin typeface="Times New Roman"/>
              <a:cs typeface="Times New Roman"/>
            </a:endParaRPr>
          </a:p>
          <a:p>
            <a:pPr marL="363855" indent="-351155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lang="en-IN" sz="1600" spc="-20" dirty="0">
                <a:latin typeface="Times New Roman"/>
                <a:cs typeface="Times New Roman"/>
              </a:rPr>
              <a:t>16X2 TFT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Display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1321" y="1889672"/>
            <a:ext cx="2331720" cy="1282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63855" algn="l"/>
              </a:tabLst>
            </a:pPr>
            <a:r>
              <a:rPr lang="en-IN" sz="1600" dirty="0">
                <a:latin typeface="Times New Roman"/>
                <a:cs typeface="Times New Roman"/>
              </a:rPr>
              <a:t>ADXL345</a:t>
            </a:r>
            <a:endParaRPr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endParaRPr lang="en-IN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/>
                <a:cs typeface="Times New Roman"/>
              </a:rPr>
              <a:t>     HW-763</a:t>
            </a:r>
            <a:endParaRPr sz="16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63855" algn="l"/>
              </a:tabLst>
            </a:pPr>
            <a:endParaRPr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/>
                <a:cs typeface="Times New Roman"/>
              </a:rPr>
              <a:t>    Buzzer Sensor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99C9A96-C13F-FEF1-6A6B-C3E74F4E2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88392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8E2B5-6BF5-8461-AD16-55DE498F1B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81" r="2222"/>
          <a:stretch>
            <a:fillRect/>
          </a:stretch>
        </p:blipFill>
        <p:spPr>
          <a:xfrm>
            <a:off x="76200" y="49955"/>
            <a:ext cx="8905087" cy="5043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57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4D3BD7-8D56-E968-94BA-1DEA87465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63"/>
          <a:stretch>
            <a:fillRect/>
          </a:stretch>
        </p:blipFill>
        <p:spPr>
          <a:xfrm>
            <a:off x="0" y="361950"/>
            <a:ext cx="9162334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95C88B-C4E2-1FF2-C1EE-D1660BB119BC}"/>
              </a:ext>
            </a:extLst>
          </p:cNvPr>
          <p:cNvSpPr txBox="1"/>
          <p:nvPr/>
        </p:nvSpPr>
        <p:spPr>
          <a:xfrm>
            <a:off x="3886200" y="2571751"/>
            <a:ext cx="609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>
                <a:solidFill>
                  <a:srgbClr val="002060"/>
                </a:solidFill>
              </a:rPr>
              <a:t>HW-763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92AA8-45AA-EF21-81A2-ECB1DFAA936A}"/>
              </a:ext>
            </a:extLst>
          </p:cNvPr>
          <p:cNvSpPr txBox="1"/>
          <p:nvPr/>
        </p:nvSpPr>
        <p:spPr>
          <a:xfrm>
            <a:off x="4724400" y="2605846"/>
            <a:ext cx="609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" dirty="0">
                <a:solidFill>
                  <a:srgbClr val="002060"/>
                </a:solidFill>
              </a:rPr>
              <a:t>HW-763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D312AA-9D8C-E4E1-A617-847DB4175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0"/>
          <a:stretch>
            <a:fillRect/>
          </a:stretch>
        </p:blipFill>
        <p:spPr>
          <a:xfrm>
            <a:off x="228600" y="129197"/>
            <a:ext cx="8763000" cy="4804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1829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AD0B07DD-CB20-4AF5-8E33-664B27ABF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9197"/>
            <a:ext cx="8755552" cy="4804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056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F8E9B1-548C-F397-64C0-77432A62A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2"/>
          <a:stretch>
            <a:fillRect/>
          </a:stretch>
        </p:blipFill>
        <p:spPr>
          <a:xfrm>
            <a:off x="152400" y="95590"/>
            <a:ext cx="8915400" cy="4952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36742C3-0C12-0223-E2EF-6EA37F55C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8" b="14635"/>
          <a:stretch>
            <a:fillRect/>
          </a:stretch>
        </p:blipFill>
        <p:spPr>
          <a:xfrm>
            <a:off x="228600" y="133350"/>
            <a:ext cx="8839200" cy="4800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244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1634" y="67476"/>
            <a:ext cx="11728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0345" algn="l"/>
              </a:tabLst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Q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50" spc="170" dirty="0">
                <a:solidFill>
                  <a:srgbClr val="FFFFFF"/>
                </a:solidFill>
                <a:latin typeface="Arial MT"/>
                <a:cs typeface="Arial MT"/>
              </a:rPr>
              <a:t>Thin</a:t>
            </a:r>
            <a:r>
              <a:rPr sz="95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spc="245" dirty="0">
                <a:solidFill>
                  <a:srgbClr val="FFFFFF"/>
                </a:solidFill>
                <a:latin typeface="Arial MT"/>
                <a:cs typeface="Arial MT"/>
              </a:rPr>
              <a:t>gSp</a:t>
            </a:r>
            <a:r>
              <a:rPr sz="95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50" spc="195" dirty="0">
                <a:solidFill>
                  <a:srgbClr val="FFFFFF"/>
                </a:solidFill>
                <a:latin typeface="Arial MT"/>
                <a:cs typeface="Arial MT"/>
              </a:rPr>
              <a:t>eak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8129" y="67476"/>
            <a:ext cx="47180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90" dirty="0">
                <a:solidFill>
                  <a:srgbClr val="FFFFFF"/>
                </a:solidFill>
                <a:latin typeface="Arial MT"/>
                <a:cs typeface="Arial MT"/>
              </a:rPr>
              <a:t>Channels-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6356" y="67476"/>
            <a:ext cx="26797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110" dirty="0">
                <a:solidFill>
                  <a:srgbClr val="FFFFFF"/>
                </a:solidFill>
                <a:latin typeface="Arial MT"/>
                <a:cs typeface="Arial MT"/>
              </a:rPr>
              <a:t>Apps-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6485" y="67476"/>
            <a:ext cx="36957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95" dirty="0">
                <a:solidFill>
                  <a:srgbClr val="FFFFFF"/>
                </a:solidFill>
                <a:latin typeface="Arial MT"/>
                <a:cs typeface="Arial MT"/>
              </a:rPr>
              <a:t>Devices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24123" y="67476"/>
            <a:ext cx="3898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65" dirty="0">
                <a:solidFill>
                  <a:srgbClr val="FFFFFF"/>
                </a:solidFill>
                <a:latin typeface="Arial MT"/>
                <a:cs typeface="Arial MT"/>
              </a:rPr>
              <a:t>Support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4942" y="63809"/>
            <a:ext cx="166052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36700" algn="l"/>
              </a:tabLst>
            </a:pP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Comme</a:t>
            </a:r>
            <a:r>
              <a:rPr sz="8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FFFFFF"/>
                </a:solidFill>
                <a:latin typeface="Arial MT"/>
                <a:cs typeface="Arial MT"/>
              </a:rPr>
              <a:t>rc</a:t>
            </a:r>
            <a:r>
              <a:rPr sz="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14" dirty="0">
                <a:solidFill>
                  <a:srgbClr val="FFFFFF"/>
                </a:solidFill>
                <a:latin typeface="Arial MT"/>
                <a:cs typeface="Arial MT"/>
              </a:rPr>
              <a:t>Tal</a:t>
            </a:r>
            <a:r>
              <a:rPr sz="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800" spc="215" dirty="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800" spc="-25" dirty="0">
                <a:solidFill>
                  <a:srgbClr val="FFFFFF"/>
                </a:solidFill>
                <a:latin typeface="Arial MT"/>
                <a:cs typeface="Arial MT"/>
              </a:rPr>
              <a:t> Buy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800" spc="-75" dirty="0">
                <a:solidFill>
                  <a:srgbClr val="FFFFFF"/>
                </a:solidFill>
                <a:latin typeface="Arial MT"/>
                <a:cs typeface="Arial MT"/>
              </a:rPr>
              <a:t>PS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9359" y="470791"/>
            <a:ext cx="3237230" cy="3213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585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Oil</a:t>
            </a:r>
            <a:r>
              <a:rPr sz="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30898" y="470791"/>
            <a:ext cx="3228340" cy="321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535"/>
              </a:spcBef>
            </a:pPr>
            <a:r>
              <a:rPr sz="850" spc="-30" dirty="0">
                <a:solidFill>
                  <a:srgbClr val="FFFFFF"/>
                </a:solidFill>
                <a:latin typeface="Arial MT"/>
                <a:cs typeface="Arial MT"/>
              </a:rPr>
              <a:t>Door</a:t>
            </a:r>
            <a:r>
              <a:rPr sz="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Status</a:t>
            </a:r>
            <a:endParaRPr sz="850">
              <a:latin typeface="Arial MT"/>
              <a:cs typeface="Arial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75A518-464B-E7AA-2D3F-2B6E67FFF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7" b="5555"/>
          <a:stretch>
            <a:fillRect/>
          </a:stretch>
        </p:blipFill>
        <p:spPr>
          <a:xfrm>
            <a:off x="71138" y="176908"/>
            <a:ext cx="8921228" cy="48332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5EDB7-67E7-725F-C25E-670491EC0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6"/>
          <a:stretch>
            <a:fillRect/>
          </a:stretch>
        </p:blipFill>
        <p:spPr>
          <a:xfrm>
            <a:off x="152400" y="95250"/>
            <a:ext cx="8839200" cy="4953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7965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93A221A-3852-D62E-2189-93761C864B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1" b="13382"/>
          <a:stretch>
            <a:fillRect/>
          </a:stretch>
        </p:blipFill>
        <p:spPr>
          <a:xfrm>
            <a:off x="152400" y="133350"/>
            <a:ext cx="8839200" cy="487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1997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24D54454-BAB3-217E-C75E-0D478D1B84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369" y="133350"/>
            <a:ext cx="8881051" cy="4800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7072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35481"/>
            <a:ext cx="6628765" cy="20082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IN" sz="1800" spc="-10" dirty="0">
                <a:latin typeface="Calibri"/>
                <a:cs typeface="Calibri"/>
              </a:rPr>
              <a:t> Real-time engine and driver safety monitoring implemented</a:t>
            </a:r>
          </a:p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endParaRPr lang="en-US" sz="1800" dirty="0">
              <a:latin typeface="Calibri"/>
              <a:cs typeface="Calibri"/>
            </a:endParaRPr>
          </a:p>
          <a:p>
            <a:pPr marL="379095" indent="-366395"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Supports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2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monitoring</a:t>
            </a:r>
            <a:endParaRPr lang="en-US" spc="-10" dirty="0">
              <a:latin typeface="Calibri"/>
              <a:cs typeface="Calibri"/>
            </a:endParaRPr>
          </a:p>
          <a:p>
            <a:pPr marL="379095" indent="-366395"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endParaRPr lang="en-US" sz="1800" spc="-10" dirty="0">
              <a:latin typeface="Calibri"/>
              <a:cs typeface="Calibri"/>
            </a:endParaRPr>
          </a:p>
          <a:p>
            <a:pPr marL="379095" indent="-366395"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Cost-effective</a:t>
            </a:r>
            <a:r>
              <a:rPr sz="1800" spc="2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scalable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2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smart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vehicle</a:t>
            </a:r>
            <a:r>
              <a:rPr sz="1800" spc="2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</a:t>
            </a:r>
            <a:endParaRPr lang="en-IN" sz="1800" spc="-10" dirty="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lang="en-IN" sz="1800" spc="-10" dirty="0">
                <a:latin typeface="Calibri"/>
                <a:cs typeface="Calibri"/>
              </a:rPr>
              <a:t>Reliable CAN communication achieved</a:t>
            </a:r>
            <a:endParaRPr lang="en-IN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87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Future</a:t>
            </a:r>
            <a:r>
              <a:rPr spc="170" dirty="0"/>
              <a:t> </a:t>
            </a:r>
            <a:r>
              <a:rPr spc="3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35481"/>
            <a:ext cx="4830445" cy="196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1800" spc="95" dirty="0">
                <a:latin typeface="Calibri"/>
                <a:cs typeface="Calibri"/>
              </a:rPr>
              <a:t>Add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sensors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spc="140" dirty="0">
                <a:latin typeface="Calibri"/>
                <a:cs typeface="Calibri"/>
              </a:rPr>
              <a:t>(RPM</a:t>
            </a:r>
            <a:r>
              <a:rPr lang="en-IN" sz="1800" spc="140" dirty="0">
                <a:latin typeface="Calibri"/>
                <a:cs typeface="Calibri"/>
              </a:rPr>
              <a:t>, TPMS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braking)</a:t>
            </a:r>
            <a:endParaRPr sz="1800" dirty="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1800" spc="80" dirty="0">
                <a:latin typeface="Calibri"/>
                <a:cs typeface="Calibri"/>
              </a:rPr>
              <a:t>Use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spc="295" dirty="0">
                <a:latin typeface="Calibri"/>
                <a:cs typeface="Calibri"/>
              </a:rPr>
              <a:t>AI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predictive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maintenance</a:t>
            </a:r>
            <a:endParaRPr sz="1800" dirty="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Integration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with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vehicle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275" dirty="0">
                <a:latin typeface="Calibri"/>
                <a:cs typeface="Calibri"/>
              </a:rPr>
              <a:t>ECU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app</a:t>
            </a:r>
            <a:endParaRPr sz="1800" dirty="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Wingdings" panose="05000000000000000000" pitchFamily="2" charset="2"/>
              <a:buChar char="Ø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Deploy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vehicle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fleets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1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field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use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9449" y="1873516"/>
            <a:ext cx="38080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none" spc="875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</a:t>
            </a:r>
            <a:r>
              <a:rPr sz="4800" u="none" spc="26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sz="4800" u="none" spc="5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YOU</a:t>
            </a:r>
            <a:endParaRPr sz="4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532</Words>
  <Application>Microsoft Office PowerPoint</Application>
  <PresentationFormat>On-screen Show (16:9)</PresentationFormat>
  <Paragraphs>75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 MT</vt:lpstr>
      <vt:lpstr>Calibri</vt:lpstr>
      <vt:lpstr>Times New Roman</vt:lpstr>
      <vt:lpstr>Wingdings</vt:lpstr>
      <vt:lpstr>Office Theme</vt:lpstr>
      <vt:lpstr>IoT Based Vehicle Health Monitoring and Driver              Alert System</vt:lpstr>
      <vt:lpstr>Introduction</vt:lpstr>
      <vt:lpstr>Problem Statement</vt:lpstr>
      <vt:lpstr>Objectives</vt:lpstr>
      <vt:lpstr>Components Used (Hardware)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Group_3.</dc:title>
  <cp:lastModifiedBy>Abhijeet Singh</cp:lastModifiedBy>
  <cp:revision>12</cp:revision>
  <dcterms:created xsi:type="dcterms:W3CDTF">2026-01-27T05:33:32Z</dcterms:created>
  <dcterms:modified xsi:type="dcterms:W3CDTF">2026-01-28T20:13:19Z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2026-01-27T00:00:00Z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2026-01-27T00:00:00Z</vt:filetime>
  </property>
</Properties>
</file>